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44" r:id="rId2"/>
    <p:sldId id="345" r:id="rId3"/>
    <p:sldId id="348" r:id="rId4"/>
    <p:sldId id="349" r:id="rId5"/>
    <p:sldId id="352" r:id="rId6"/>
    <p:sldId id="353" r:id="rId7"/>
    <p:sldId id="354" r:id="rId8"/>
    <p:sldId id="347" r:id="rId9"/>
    <p:sldId id="265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6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0B2A56-DA10-4858-B706-DCAD89796098}" type="datetimeFigureOut">
              <a:rPr lang="zh-CN" altLang="en-US" smtClean="0"/>
              <a:t>2022/3/14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BEE84F-18FC-4D8F-A31A-9FB0F65A23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3628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B99BE-19BA-4755-B612-DC85614DF221}" type="datetimeFigureOut">
              <a:rPr lang="zh-CN" altLang="en-US" smtClean="0"/>
              <a:t>2022/3/14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897C0-FC04-48A5-900E-0CE44AD493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2279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B99BE-19BA-4755-B612-DC85614DF221}" type="datetimeFigureOut">
              <a:rPr lang="zh-CN" altLang="en-US" smtClean="0"/>
              <a:t>2022/3/14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897C0-FC04-48A5-900E-0CE44AD493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031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B99BE-19BA-4755-B612-DC85614DF221}" type="datetimeFigureOut">
              <a:rPr lang="zh-CN" altLang="en-US" smtClean="0"/>
              <a:t>2022/3/14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897C0-FC04-48A5-900E-0CE44AD493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9241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B99BE-19BA-4755-B612-DC85614DF221}" type="datetimeFigureOut">
              <a:rPr lang="zh-CN" altLang="en-US" smtClean="0"/>
              <a:t>2022/3/14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897C0-FC04-48A5-900E-0CE44AD493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9009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B99BE-19BA-4755-B612-DC85614DF221}" type="datetimeFigureOut">
              <a:rPr lang="zh-CN" altLang="en-US" smtClean="0"/>
              <a:t>2022/3/14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897C0-FC04-48A5-900E-0CE44AD493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7103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B99BE-19BA-4755-B612-DC85614DF221}" type="datetimeFigureOut">
              <a:rPr lang="zh-CN" altLang="en-US" smtClean="0"/>
              <a:t>2022/3/14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897C0-FC04-48A5-900E-0CE44AD493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8577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B99BE-19BA-4755-B612-DC85614DF221}" type="datetimeFigureOut">
              <a:rPr lang="zh-CN" altLang="en-US" smtClean="0"/>
              <a:t>2022/3/14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897C0-FC04-48A5-900E-0CE44AD493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613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B99BE-19BA-4755-B612-DC85614DF221}" type="datetimeFigureOut">
              <a:rPr lang="zh-CN" altLang="en-US" smtClean="0"/>
              <a:t>2022/3/14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897C0-FC04-48A5-900E-0CE44AD493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210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B99BE-19BA-4755-B612-DC85614DF221}" type="datetimeFigureOut">
              <a:rPr lang="zh-CN" altLang="en-US" smtClean="0"/>
              <a:t>2022/3/14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897C0-FC04-48A5-900E-0CE44AD493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644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B99BE-19BA-4755-B612-DC85614DF221}" type="datetimeFigureOut">
              <a:rPr lang="zh-CN" altLang="en-US" smtClean="0"/>
              <a:t>2022/3/14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897C0-FC04-48A5-900E-0CE44AD493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938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B99BE-19BA-4755-B612-DC85614DF221}" type="datetimeFigureOut">
              <a:rPr lang="zh-CN" altLang="en-US" smtClean="0"/>
              <a:t>2022/3/14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897C0-FC04-48A5-900E-0CE44AD493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5755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0B99BE-19BA-4755-B612-DC85614DF221}" type="datetimeFigureOut">
              <a:rPr lang="zh-CN" altLang="en-US" smtClean="0"/>
              <a:t>2022/3/14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F897C0-FC04-48A5-900E-0CE44AD493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405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gif"/><Relationship Id="rId3" Type="http://schemas.openxmlformats.org/officeDocument/2006/relationships/image" Target="../media/image2.png"/><Relationship Id="rId7" Type="http://schemas.openxmlformats.org/officeDocument/2006/relationships/image" Target="../media/image6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.csdn.net/jason314/article/details/5640969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4678" y="53022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Fork</a:t>
            </a:r>
            <a:r>
              <a:rPr lang="zh-CN" altLang="en-US" dirty="0"/>
              <a:t>函数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838200" y="1378585"/>
            <a:ext cx="10722078" cy="435133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dirty="0"/>
              <a:t>复刻（英语：</a:t>
            </a:r>
            <a:r>
              <a:rPr lang="en-US" altLang="zh-CN" dirty="0"/>
              <a:t>fork</a:t>
            </a:r>
            <a:r>
              <a:rPr lang="zh-CN" altLang="en-US" dirty="0"/>
              <a:t>，又译作派生、分支）是</a:t>
            </a:r>
            <a:r>
              <a:rPr lang="en-US" altLang="zh-CN" dirty="0"/>
              <a:t>UNIX</a:t>
            </a:r>
            <a:r>
              <a:rPr lang="zh-CN" altLang="en-US" dirty="0"/>
              <a:t>或类</a:t>
            </a:r>
            <a:r>
              <a:rPr lang="en-US" altLang="zh-CN" dirty="0"/>
              <a:t>UNIX</a:t>
            </a:r>
            <a:r>
              <a:rPr lang="zh-CN" altLang="en-US" dirty="0"/>
              <a:t>中的分叉函数。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dirty="0"/>
              <a:t>fork</a:t>
            </a:r>
            <a:r>
              <a:rPr lang="zh-CN" altLang="en-US" dirty="0"/>
              <a:t>系统调用用于创建一个新进程，称为子进程（</a:t>
            </a:r>
            <a:r>
              <a:rPr lang="en-US" altLang="zh-CN" dirty="0"/>
              <a:t>child process</a:t>
            </a:r>
            <a:r>
              <a:rPr lang="zh-CN" altLang="en-US" dirty="0"/>
              <a:t>） ，系统调用</a:t>
            </a:r>
            <a:r>
              <a:rPr lang="en-US" altLang="zh-CN" dirty="0"/>
              <a:t>fork</a:t>
            </a:r>
            <a:r>
              <a:rPr lang="zh-CN" altLang="en-US" dirty="0"/>
              <a:t>的进程称为父进程（</a:t>
            </a:r>
            <a:r>
              <a:rPr lang="en-US" altLang="zh-CN" dirty="0"/>
              <a:t>parent process</a:t>
            </a:r>
            <a:r>
              <a:rPr lang="zh-CN" altLang="en-US" dirty="0"/>
              <a:t>） 。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dirty="0" err="1"/>
              <a:t>pid_t</a:t>
            </a:r>
            <a:r>
              <a:rPr lang="en-US" altLang="zh-CN" dirty="0"/>
              <a:t> fork( void);fork()</a:t>
            </a:r>
            <a:r>
              <a:rPr lang="zh-CN" altLang="en-US" dirty="0"/>
              <a:t>系统调用不需要参数，成功返回两个值，失败返回一个值：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dirty="0"/>
              <a:t>成功：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altLang="zh-CN" dirty="0"/>
              <a:t>0</a:t>
            </a:r>
            <a:r>
              <a:rPr lang="zh-CN" altLang="en-US" dirty="0"/>
              <a:t>：返回到新创建的子进程，即子进程返回</a:t>
            </a:r>
            <a:r>
              <a:rPr lang="en-US" altLang="zh-CN" dirty="0"/>
              <a:t>0</a:t>
            </a:r>
            <a:r>
              <a:rPr lang="zh-CN" altLang="en-US" dirty="0"/>
              <a:t>，表明子进程没有后继结点。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dirty="0"/>
              <a:t>＞</a:t>
            </a:r>
            <a:r>
              <a:rPr lang="en-US" altLang="zh-CN" dirty="0"/>
              <a:t>0</a:t>
            </a:r>
            <a:r>
              <a:rPr lang="zh-CN" altLang="en-US" dirty="0"/>
              <a:t>（正数）：返回父进程或调用者，即父进程返回子进程的</a:t>
            </a:r>
            <a:r>
              <a:rPr lang="en-US" altLang="zh-CN" dirty="0"/>
              <a:t>ID</a:t>
            </a:r>
            <a:r>
              <a:rPr lang="zh-CN" altLang="en-US" dirty="0"/>
              <a:t>或者说父进程可获得子进程的</a:t>
            </a:r>
            <a:r>
              <a:rPr lang="en-US" altLang="zh-CN" dirty="0"/>
              <a:t>ID</a:t>
            </a:r>
            <a:r>
              <a:rPr lang="zh-CN" altLang="en-US" dirty="0"/>
              <a:t>，表明父进程的直接后继是进程号</a:t>
            </a:r>
            <a:r>
              <a:rPr lang="en-US" altLang="zh-CN" dirty="0" err="1"/>
              <a:t>pid</a:t>
            </a:r>
            <a:r>
              <a:rPr lang="zh-CN" altLang="en-US" dirty="0"/>
              <a:t>为</a:t>
            </a:r>
            <a:r>
              <a:rPr lang="en-US" altLang="zh-CN" dirty="0"/>
              <a:t>ID</a:t>
            </a:r>
            <a:r>
              <a:rPr lang="zh-CN" altLang="en-US" dirty="0"/>
              <a:t>的子进程。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dirty="0"/>
              <a:t>失败：返回</a:t>
            </a:r>
            <a:r>
              <a:rPr lang="en-US" altLang="zh-CN" dirty="0"/>
              <a:t>-1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C35E3ED4-873A-42DA-9A1D-F37E76EDCA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1521" y="3154442"/>
            <a:ext cx="5938520" cy="799624"/>
          </a:xfrm>
          <a:prstGeom prst="cloudCallout">
            <a:avLst>
              <a:gd name="adj1" fmla="val -43490"/>
              <a:gd name="adj2" fmla="val 146378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ea typeface="宋体" panose="02010600030101010101" pitchFamily="2" charset="-122"/>
              </a:rPr>
              <a:t>形成了创建进程的链表！</a:t>
            </a:r>
            <a:endParaRPr lang="en-US" altLang="zh-CN" sz="28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0C05A54-51B6-4FA5-9B3E-5BE546E9567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55009"/>
            <a:ext cx="12192000" cy="118294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6281BE9-025C-45E7-9C6D-51EFE8BB6EC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1293" y="0"/>
            <a:ext cx="7309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825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4678" y="500062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Fork</a:t>
            </a:r>
            <a:r>
              <a:rPr lang="zh-CN" altLang="en-US" dirty="0"/>
              <a:t>函数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dirty="0"/>
              <a:t>UNIX</a:t>
            </a:r>
            <a:r>
              <a:rPr lang="zh-CN" altLang="en-US" dirty="0"/>
              <a:t>将</a:t>
            </a:r>
            <a:r>
              <a:rPr lang="zh-CN" altLang="en-US" b="1" dirty="0">
                <a:solidFill>
                  <a:srgbClr val="FF0000"/>
                </a:solidFill>
              </a:rPr>
              <a:t>复制</a:t>
            </a:r>
            <a:r>
              <a:rPr lang="zh-CN" altLang="en-US" dirty="0"/>
              <a:t>父进程的地址空间内容（</a:t>
            </a:r>
            <a:r>
              <a:rPr lang="zh-CN" altLang="en-US" b="1" dirty="0">
                <a:solidFill>
                  <a:srgbClr val="FF0000"/>
                </a:solidFill>
              </a:rPr>
              <a:t>存储空间</a:t>
            </a:r>
            <a:r>
              <a:rPr lang="zh-CN" altLang="en-US" dirty="0"/>
              <a:t>）给子进程，因此，</a:t>
            </a:r>
            <a:r>
              <a:rPr lang="zh-CN" altLang="en-US" b="1" dirty="0">
                <a:solidFill>
                  <a:srgbClr val="FF0000"/>
                </a:solidFill>
              </a:rPr>
              <a:t>子进程有了独立的地址空间</a:t>
            </a:r>
            <a:r>
              <a:rPr lang="zh-CN" altLang="en-US" dirty="0"/>
              <a:t>。所以子进程是父进程的</a:t>
            </a:r>
            <a:r>
              <a:rPr lang="zh-CN" altLang="en-US" b="1" dirty="0">
                <a:solidFill>
                  <a:srgbClr val="FF0000"/>
                </a:solidFill>
              </a:rPr>
              <a:t>副本</a:t>
            </a:r>
            <a:r>
              <a:rPr lang="zh-CN" altLang="en-US" dirty="0"/>
              <a:t>，它将获得父进程数据空间、堆、栈等</a:t>
            </a:r>
            <a:r>
              <a:rPr lang="zh-CN" altLang="en-US" b="1" dirty="0">
                <a:solidFill>
                  <a:srgbClr val="FF0000"/>
                </a:solidFill>
              </a:rPr>
              <a:t>资源的副本（注意只是分配一份资源副本，而没有涉及调度）</a:t>
            </a:r>
            <a:r>
              <a:rPr lang="zh-CN" altLang="en-US" dirty="0"/>
              <a:t>，这意味着父子进程间</a:t>
            </a:r>
            <a:r>
              <a:rPr lang="zh-CN" altLang="en-US" b="1" dirty="0">
                <a:solidFill>
                  <a:srgbClr val="FF0000"/>
                </a:solidFill>
              </a:rPr>
              <a:t>不共享这些存储空间</a:t>
            </a:r>
            <a:r>
              <a:rPr lang="zh-CN" altLang="en-US" dirty="0"/>
              <a:t>。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dirty="0"/>
              <a:t>为什么</a:t>
            </a:r>
            <a:r>
              <a:rPr lang="en-US" altLang="zh-CN" dirty="0"/>
              <a:t>fork</a:t>
            </a:r>
            <a:r>
              <a:rPr lang="zh-CN" altLang="en-US" dirty="0"/>
              <a:t>会返回两次？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dirty="0"/>
              <a:t>由于子进程在复制时复制了父进程的</a:t>
            </a:r>
            <a:r>
              <a:rPr lang="zh-CN" altLang="en-US" b="1" dirty="0">
                <a:solidFill>
                  <a:srgbClr val="FF0000"/>
                </a:solidFill>
              </a:rPr>
              <a:t>堆栈段</a:t>
            </a:r>
            <a:r>
              <a:rPr lang="zh-CN" altLang="en-US" dirty="0"/>
              <a:t>，所以</a:t>
            </a:r>
            <a:r>
              <a:rPr lang="zh-CN" altLang="en-US" b="1" dirty="0">
                <a:solidFill>
                  <a:srgbClr val="FF0000"/>
                </a:solidFill>
              </a:rPr>
              <a:t>两个进程都停留在</a:t>
            </a:r>
            <a:r>
              <a:rPr lang="en-US" altLang="zh-CN" b="1" dirty="0">
                <a:solidFill>
                  <a:srgbClr val="FF0000"/>
                </a:solidFill>
              </a:rPr>
              <a:t>fork</a:t>
            </a:r>
            <a:r>
              <a:rPr lang="zh-CN" altLang="en-US" b="1" dirty="0">
                <a:solidFill>
                  <a:srgbClr val="FF0000"/>
                </a:solidFill>
              </a:rPr>
              <a:t>函数中，等待返回</a:t>
            </a:r>
            <a:r>
              <a:rPr lang="zh-CN" altLang="en-US" dirty="0"/>
              <a:t>。因此</a:t>
            </a:r>
            <a:r>
              <a:rPr lang="en-US" altLang="zh-CN" dirty="0"/>
              <a:t>fork</a:t>
            </a:r>
            <a:r>
              <a:rPr lang="zh-CN" altLang="en-US" dirty="0"/>
              <a:t>函数会返回两次，一次是在父进程中返回，另一次是在子进程中返回，这两次的返回值是不一样的。过程如下图。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dirty="0"/>
              <a:t>因此我们可以通过</a:t>
            </a:r>
            <a:r>
              <a:rPr lang="en-US" altLang="zh-CN" dirty="0"/>
              <a:t>fork</a:t>
            </a:r>
            <a:r>
              <a:rPr lang="zh-CN" altLang="en-US" dirty="0"/>
              <a:t>返回的值来判断当前进程是子进程还是父进程。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zh-CN" altLang="en-US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altLang="zh-C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22F6081-0E4A-4446-8E33-F64330E1F6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4275" y="903288"/>
            <a:ext cx="3819525" cy="449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8617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4678" y="500062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Fork</a:t>
            </a:r>
            <a:r>
              <a:rPr lang="zh-CN" altLang="en-US" dirty="0"/>
              <a:t>函数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dirty="0"/>
              <a:t>调用</a:t>
            </a:r>
            <a:r>
              <a:rPr lang="en-US" altLang="zh-CN" dirty="0"/>
              <a:t>fork</a:t>
            </a:r>
            <a:r>
              <a:rPr lang="zh-CN" altLang="en-US" dirty="0"/>
              <a:t>之后，数据、堆、栈有两份，代码仍然为一份。但是这个代码段成为两个进程的</a:t>
            </a:r>
            <a:r>
              <a:rPr lang="zh-CN" altLang="en-US" b="1" dirty="0">
                <a:solidFill>
                  <a:srgbClr val="FF0000"/>
                </a:solidFill>
              </a:rPr>
              <a:t>共享代码段</a:t>
            </a:r>
            <a:r>
              <a:rPr lang="zh-CN" altLang="en-US" dirty="0"/>
              <a:t>都从</a:t>
            </a:r>
            <a:r>
              <a:rPr lang="en-US" altLang="zh-CN" dirty="0"/>
              <a:t>fork</a:t>
            </a:r>
            <a:r>
              <a:rPr lang="zh-CN" altLang="en-US" dirty="0"/>
              <a:t>函数中返回，箭头表示各自的执行处。当父子进程有一个</a:t>
            </a:r>
            <a:r>
              <a:rPr lang="zh-CN" altLang="en-US" b="1" dirty="0">
                <a:solidFill>
                  <a:srgbClr val="FF0000"/>
                </a:solidFill>
              </a:rPr>
              <a:t>想要修改数据或者堆栈时</a:t>
            </a:r>
            <a:r>
              <a:rPr lang="zh-CN" altLang="en-US" dirty="0"/>
              <a:t>，</a:t>
            </a:r>
            <a:r>
              <a:rPr lang="zh-CN" altLang="en-US" b="1" dirty="0">
                <a:solidFill>
                  <a:srgbClr val="FF0000"/>
                </a:solidFill>
              </a:rPr>
              <a:t>两个进程真正分裂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dirty="0"/>
              <a:t>创建新的子进程后，由于父子进程使用相同的</a:t>
            </a:r>
            <a:r>
              <a:rPr lang="en-US" altLang="zh-CN" dirty="0"/>
              <a:t>pc</a:t>
            </a:r>
            <a:r>
              <a:rPr lang="zh-CN" altLang="en-US" dirty="0"/>
              <a:t>（程序计数器），相同的</a:t>
            </a:r>
            <a:r>
              <a:rPr lang="en-US" altLang="zh-CN" dirty="0"/>
              <a:t>CPU</a:t>
            </a:r>
            <a:r>
              <a:rPr lang="zh-CN" altLang="en-US" dirty="0"/>
              <a:t>寄存器，在父进程中使用的相同打开文件，所以</a:t>
            </a:r>
            <a:r>
              <a:rPr lang="zh-CN" altLang="en-US" b="1" dirty="0">
                <a:solidFill>
                  <a:srgbClr val="FF0000"/>
                </a:solidFill>
              </a:rPr>
              <a:t>两个进程将执行</a:t>
            </a:r>
            <a:r>
              <a:rPr lang="en-US" altLang="zh-CN" dirty="0"/>
              <a:t>fork()</a:t>
            </a:r>
            <a:r>
              <a:rPr lang="zh-CN" altLang="en-US" dirty="0"/>
              <a:t>系统调用之后的</a:t>
            </a:r>
            <a:r>
              <a:rPr lang="zh-CN" altLang="en-US" b="1" dirty="0">
                <a:solidFill>
                  <a:srgbClr val="FF0000"/>
                </a:solidFill>
              </a:rPr>
              <a:t>下一条指令</a:t>
            </a:r>
            <a:r>
              <a:rPr lang="zh-CN" altLang="en-US" dirty="0"/>
              <a:t>。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dirty="0"/>
              <a:t>或者说，</a:t>
            </a:r>
            <a:r>
              <a:rPr lang="en-US" altLang="zh-CN" dirty="0"/>
              <a:t>fork</a:t>
            </a:r>
            <a:r>
              <a:rPr lang="zh-CN" altLang="en-US" dirty="0"/>
              <a:t>是把进程</a:t>
            </a:r>
            <a:r>
              <a:rPr lang="zh-CN" altLang="en-US" b="1" dirty="0">
                <a:solidFill>
                  <a:srgbClr val="FF0000"/>
                </a:solidFill>
              </a:rPr>
              <a:t>当前的情况</a:t>
            </a:r>
            <a:r>
              <a:rPr lang="zh-CN" altLang="en-US" dirty="0"/>
              <a:t>拷贝一份（</a:t>
            </a:r>
            <a:r>
              <a:rPr lang="zh-CN" altLang="en-US" b="1" dirty="0">
                <a:solidFill>
                  <a:srgbClr val="FF0000"/>
                </a:solidFill>
              </a:rPr>
              <a:t>从</a:t>
            </a:r>
            <a:r>
              <a:rPr lang="en-US" altLang="zh-CN" b="1" dirty="0">
                <a:solidFill>
                  <a:srgbClr val="FF0000"/>
                </a:solidFill>
              </a:rPr>
              <a:t>fork</a:t>
            </a:r>
            <a:r>
              <a:rPr lang="zh-CN" altLang="en-US" b="1" dirty="0">
                <a:solidFill>
                  <a:srgbClr val="FF0000"/>
                </a:solidFill>
              </a:rPr>
              <a:t>处后开始</a:t>
            </a:r>
            <a:r>
              <a:rPr lang="zh-CN" altLang="en-US" dirty="0"/>
              <a:t>，</a:t>
            </a:r>
            <a:r>
              <a:rPr lang="en-US" altLang="zh-CN" b="1" dirty="0">
                <a:solidFill>
                  <a:srgbClr val="FF0000"/>
                </a:solidFill>
              </a:rPr>
              <a:t>fork</a:t>
            </a:r>
            <a:r>
              <a:rPr lang="zh-CN" altLang="en-US" b="1" dirty="0">
                <a:solidFill>
                  <a:srgbClr val="FF0000"/>
                </a:solidFill>
              </a:rPr>
              <a:t>处前是什么样的状态，就是什么样的状态，因为父进程已经被执行到</a:t>
            </a:r>
            <a:r>
              <a:rPr lang="en-US" altLang="zh-CN" b="1" dirty="0">
                <a:solidFill>
                  <a:srgbClr val="FF0000"/>
                </a:solidFill>
              </a:rPr>
              <a:t>fork</a:t>
            </a:r>
            <a:r>
              <a:rPr lang="zh-CN" altLang="en-US" b="1" dirty="0">
                <a:solidFill>
                  <a:srgbClr val="FF0000"/>
                </a:solidFill>
              </a:rPr>
              <a:t>此处了，</a:t>
            </a:r>
            <a:r>
              <a:rPr lang="en-US" altLang="zh-CN" b="1" dirty="0">
                <a:solidFill>
                  <a:srgbClr val="FF0000"/>
                </a:solidFill>
              </a:rPr>
              <a:t>fork</a:t>
            </a:r>
            <a:r>
              <a:rPr lang="zh-CN" altLang="en-US" b="1" dirty="0">
                <a:solidFill>
                  <a:srgbClr val="FF0000"/>
                </a:solidFill>
              </a:rPr>
              <a:t>前的状态已经确定了</a:t>
            </a:r>
            <a:r>
              <a:rPr lang="zh-CN" altLang="en-US" dirty="0"/>
              <a:t>）。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36445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4678" y="500062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Fork</a:t>
            </a:r>
            <a:r>
              <a:rPr lang="zh-CN" altLang="en-US" dirty="0"/>
              <a:t>函数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b="1" dirty="0">
                <a:solidFill>
                  <a:srgbClr val="FF0000"/>
                </a:solidFill>
              </a:rPr>
              <a:t>调度</a:t>
            </a:r>
            <a:r>
              <a:rPr lang="zh-CN" altLang="en-US" dirty="0"/>
              <a:t>：父子进程可以并发（单</a:t>
            </a:r>
            <a:r>
              <a:rPr lang="en-US" altLang="zh-CN" dirty="0"/>
              <a:t>CPU</a:t>
            </a:r>
            <a:r>
              <a:rPr lang="zh-CN" altLang="en-US" dirty="0"/>
              <a:t>）或并行（多</a:t>
            </a:r>
            <a:r>
              <a:rPr lang="en-US" altLang="zh-CN" dirty="0"/>
              <a:t>CPU</a:t>
            </a:r>
            <a:r>
              <a:rPr lang="zh-CN" altLang="en-US" dirty="0"/>
              <a:t>）执行，但父子</a:t>
            </a:r>
            <a:r>
              <a:rPr lang="zh-CN" altLang="en-US" b="1" dirty="0">
                <a:solidFill>
                  <a:srgbClr val="FF0000"/>
                </a:solidFill>
              </a:rPr>
              <a:t>进程调度次序</a:t>
            </a:r>
            <a:r>
              <a:rPr lang="zh-CN" altLang="en-US" dirty="0"/>
              <a:t>存在</a:t>
            </a:r>
            <a:r>
              <a:rPr lang="zh-CN" altLang="en-US" b="1" dirty="0">
                <a:solidFill>
                  <a:srgbClr val="FF0000"/>
                </a:solidFill>
              </a:rPr>
              <a:t>不确定</a:t>
            </a:r>
            <a:r>
              <a:rPr lang="zh-CN" altLang="en-US" dirty="0"/>
              <a:t>性，</a:t>
            </a:r>
            <a:r>
              <a:rPr lang="zh-CN" altLang="en-US" b="1" dirty="0">
                <a:solidFill>
                  <a:srgbClr val="FF0000"/>
                </a:solidFill>
              </a:rPr>
              <a:t>运行的结果</a:t>
            </a:r>
            <a:r>
              <a:rPr lang="zh-CN" altLang="en-US" dirty="0"/>
              <a:t>也存在</a:t>
            </a:r>
            <a:r>
              <a:rPr lang="zh-CN" altLang="en-US" b="1" dirty="0">
                <a:solidFill>
                  <a:srgbClr val="FF0000"/>
                </a:solidFill>
              </a:rPr>
              <a:t>不确定</a:t>
            </a:r>
            <a:r>
              <a:rPr lang="zh-CN" altLang="en-US" dirty="0"/>
              <a:t>性（所有进程</a:t>
            </a:r>
            <a:r>
              <a:rPr lang="zh-CN" altLang="en-US" b="1" dirty="0">
                <a:solidFill>
                  <a:srgbClr val="FF0000"/>
                </a:solidFill>
              </a:rPr>
              <a:t>整体运行结果不确定</a:t>
            </a:r>
            <a:r>
              <a:rPr lang="zh-CN" altLang="en-US" dirty="0"/>
              <a:t>，但</a:t>
            </a:r>
            <a:r>
              <a:rPr lang="zh-CN" altLang="en-US" b="1" dirty="0">
                <a:solidFill>
                  <a:srgbClr val="FF0000"/>
                </a:solidFill>
              </a:rPr>
              <a:t>每个进程的运行结果是确定的</a:t>
            </a:r>
            <a:r>
              <a:rPr lang="zh-CN" altLang="en-US" dirty="0"/>
              <a:t>）。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dirty="0"/>
              <a:t>因为</a:t>
            </a:r>
            <a:r>
              <a:rPr lang="zh-CN" altLang="en-US" b="1" dirty="0">
                <a:solidFill>
                  <a:srgbClr val="FF0000"/>
                </a:solidFill>
              </a:rPr>
              <a:t>创建进程与进程的调度是两码事</a:t>
            </a:r>
            <a:r>
              <a:rPr lang="zh-CN" altLang="en-US" dirty="0"/>
              <a:t>（参见</a:t>
            </a:r>
            <a:r>
              <a:rPr lang="zh-CN" altLang="en-US" b="1" dirty="0">
                <a:solidFill>
                  <a:srgbClr val="FF0000"/>
                </a:solidFill>
              </a:rPr>
              <a:t>进程状态转换图</a:t>
            </a:r>
            <a:r>
              <a:rPr lang="zh-CN" altLang="en-US" dirty="0"/>
              <a:t>），因此，在不同的</a:t>
            </a:r>
            <a:r>
              <a:rPr lang="en-US" altLang="zh-CN" dirty="0"/>
              <a:t>UNIX (</a:t>
            </a:r>
            <a:r>
              <a:rPr lang="zh-CN" altLang="en-US" dirty="0"/>
              <a:t>类</a:t>
            </a:r>
            <a:r>
              <a:rPr lang="en-US" altLang="zh-CN" dirty="0"/>
              <a:t>UNIX)</a:t>
            </a:r>
            <a:r>
              <a:rPr lang="zh-CN" altLang="en-US" dirty="0"/>
              <a:t>系统下，我们无法确定</a:t>
            </a:r>
            <a:r>
              <a:rPr lang="en-US" altLang="zh-CN" dirty="0"/>
              <a:t>fork</a:t>
            </a:r>
            <a:r>
              <a:rPr lang="zh-CN" altLang="en-US" dirty="0"/>
              <a:t>之后是子进程先运行还是父进程先运行，这</a:t>
            </a:r>
            <a:r>
              <a:rPr lang="zh-CN" altLang="en-US" b="1" dirty="0">
                <a:solidFill>
                  <a:srgbClr val="FF0000"/>
                </a:solidFill>
              </a:rPr>
              <a:t>依赖于系统的实现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BFE81EC-B01C-45BC-A262-B5530CD58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062" y="1939519"/>
            <a:ext cx="819075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505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4678" y="500062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Fork</a:t>
            </a:r>
            <a:r>
              <a:rPr lang="zh-CN" altLang="en-US" dirty="0"/>
              <a:t>函数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b="1" dirty="0">
                <a:solidFill>
                  <a:srgbClr val="FF0000"/>
                </a:solidFill>
              </a:rPr>
              <a:t>进程树</a:t>
            </a:r>
            <a:r>
              <a:rPr lang="zh-CN" altLang="en-US" dirty="0"/>
              <a:t>：由于父子</a:t>
            </a:r>
            <a:r>
              <a:rPr lang="zh-CN" altLang="en-US" b="1" dirty="0">
                <a:solidFill>
                  <a:srgbClr val="FF0000"/>
                </a:solidFill>
              </a:rPr>
              <a:t>进程调度次序</a:t>
            </a:r>
            <a:r>
              <a:rPr lang="zh-CN" altLang="en-US" dirty="0"/>
              <a:t>的</a:t>
            </a:r>
            <a:r>
              <a:rPr lang="zh-CN" altLang="en-US" b="1" dirty="0">
                <a:solidFill>
                  <a:srgbClr val="FF0000"/>
                </a:solidFill>
              </a:rPr>
              <a:t>不确定</a:t>
            </a:r>
            <a:r>
              <a:rPr lang="zh-CN" altLang="en-US" dirty="0"/>
              <a:t>性，当某个子进程的父进程先执行完毕时，此时该进程的父进程</a:t>
            </a:r>
            <a:r>
              <a:rPr lang="en-US" altLang="zh-CN" dirty="0"/>
              <a:t>ID</a:t>
            </a:r>
            <a:r>
              <a:rPr lang="zh-CN" altLang="en-US" dirty="0"/>
              <a:t>会改变，也就是说进程树会随着进程执行的情况而动态地发生改变，即</a:t>
            </a:r>
            <a:r>
              <a:rPr lang="zh-CN" altLang="en-US" b="1" dirty="0">
                <a:solidFill>
                  <a:srgbClr val="FF0000"/>
                </a:solidFill>
              </a:rPr>
              <a:t>进程之间的前驱后继关系会随着进程的执行而动态地发生变化</a:t>
            </a:r>
            <a:r>
              <a:rPr lang="zh-CN" altLang="en-US" dirty="0"/>
              <a:t>，这</a:t>
            </a:r>
            <a:r>
              <a:rPr lang="zh-CN" altLang="en-US" b="1" dirty="0">
                <a:solidFill>
                  <a:srgbClr val="FF0000"/>
                </a:solidFill>
              </a:rPr>
              <a:t>也依赖于系统的实现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804C468-8EC9-4F86-8EF5-A21F39731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8134" y="1633854"/>
            <a:ext cx="6756779" cy="4805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089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4678" y="500062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Fork</a:t>
            </a:r>
            <a:r>
              <a:rPr lang="zh-CN" altLang="en-US" dirty="0"/>
              <a:t>逻辑判断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4318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dirty="0"/>
              <a:t>fork();</a:t>
            </a:r>
          </a:p>
          <a:p>
            <a:r>
              <a:rPr lang="en-US" altLang="zh-CN" dirty="0"/>
              <a:t>fork() &amp;&amp; fork() || fork();</a:t>
            </a:r>
          </a:p>
          <a:p>
            <a:r>
              <a:rPr lang="en-US" altLang="zh-CN" dirty="0"/>
              <a:t>fork();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914BEEB-A7C4-4E35-9E55-FB4E066ABB3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985" y="0"/>
            <a:ext cx="73497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137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4678" y="500062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Fork</a:t>
            </a:r>
            <a:r>
              <a:rPr lang="zh-CN" altLang="en-US" dirty="0"/>
              <a:t>顺序打印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4318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dirty="0" err="1"/>
              <a:t>printf</a:t>
            </a:r>
            <a:r>
              <a:rPr lang="en-US" altLang="zh-CN" dirty="0"/>
              <a:t>("1111\n");</a:t>
            </a:r>
          </a:p>
          <a:p>
            <a:r>
              <a:rPr lang="en-US" altLang="zh-CN" dirty="0"/>
              <a:t>fork();</a:t>
            </a:r>
          </a:p>
          <a:p>
            <a:r>
              <a:rPr lang="en-US" altLang="zh-CN" dirty="0" err="1"/>
              <a:t>printf</a:t>
            </a:r>
            <a:r>
              <a:rPr lang="en-US" altLang="zh-CN" dirty="0"/>
              <a:t>("2222\n");</a:t>
            </a:r>
          </a:p>
          <a:p>
            <a:r>
              <a:rPr lang="en-US" altLang="zh-CN" dirty="0"/>
              <a:t>fork();</a:t>
            </a:r>
          </a:p>
          <a:p>
            <a:r>
              <a:rPr lang="en-US" altLang="zh-CN" dirty="0" err="1"/>
              <a:t>printf</a:t>
            </a:r>
            <a:r>
              <a:rPr lang="en-US" altLang="zh-CN" dirty="0"/>
              <a:t>("3333\n");</a:t>
            </a:r>
          </a:p>
          <a:p>
            <a:r>
              <a:rPr lang="en-US" altLang="zh-CN" dirty="0"/>
              <a:t>fork();</a:t>
            </a:r>
          </a:p>
          <a:p>
            <a:r>
              <a:rPr lang="en-US" altLang="zh-CN" dirty="0" err="1"/>
              <a:t>printf</a:t>
            </a:r>
            <a:r>
              <a:rPr lang="en-US" altLang="zh-CN" dirty="0"/>
              <a:t>("4444\n");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68B30D2-6856-4CD1-BE09-D057A3478B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2380" y="0"/>
            <a:ext cx="54923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177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4678" y="500062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Fork</a:t>
            </a:r>
            <a:r>
              <a:rPr lang="zh-CN" altLang="en-US" dirty="0"/>
              <a:t>函数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dirty="0"/>
              <a:t>fork</a:t>
            </a:r>
            <a:r>
              <a:rPr lang="zh-CN" altLang="en-US" dirty="0"/>
              <a:t>函数的特点概括起来就是“调用一次，返回两次”，在父进程中调用一次，在父进程和子进程中各返回一次。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dirty="0"/>
              <a:t>fork</a:t>
            </a:r>
            <a:r>
              <a:rPr lang="zh-CN" altLang="en-US" dirty="0"/>
              <a:t>的另一个特性是所有由父进程打开的描述符都被复制到子进程中。父、子进程中相同编号的文件描述符在内核中指向同一个</a:t>
            </a:r>
            <a:r>
              <a:rPr lang="en-US" altLang="zh-CN" dirty="0"/>
              <a:t>file</a:t>
            </a:r>
            <a:r>
              <a:rPr lang="zh-CN" altLang="en-US" dirty="0"/>
              <a:t>结构体，也就是说，</a:t>
            </a:r>
            <a:r>
              <a:rPr lang="en-US" altLang="zh-CN" dirty="0"/>
              <a:t>file</a:t>
            </a:r>
            <a:r>
              <a:rPr lang="zh-CN" altLang="en-US" dirty="0"/>
              <a:t>结构体的引用计数要增加。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dirty="0">
                <a:hlinkClick r:id="rId2"/>
              </a:rPr>
              <a:t>https://blog.csdn.net/jason314/article/details/5640969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99474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1428" y="1784350"/>
            <a:ext cx="3886200" cy="4159250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4"/>
          <p:cNvSpPr txBox="1">
            <a:spLocks noChangeArrowheads="1"/>
          </p:cNvSpPr>
          <p:nvPr/>
        </p:nvSpPr>
        <p:spPr>
          <a:xfrm>
            <a:off x="1860884" y="42863"/>
            <a:ext cx="8229600" cy="1736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altLang="zh-CN" sz="6600" b="1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Thank you</a:t>
            </a:r>
            <a:endParaRPr lang="zh-CN" altLang="en-US" sz="6600" b="1" u="sng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530574"/>
      </p:ext>
    </p:extLst>
  </p:cSld>
  <p:clrMapOvr>
    <a:masterClrMapping/>
  </p:clrMapOvr>
  <p:transition spd="slow">
    <p:random/>
  </p:transition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5165</TotalTime>
  <Words>838</Words>
  <Application>Microsoft Office PowerPoint</Application>
  <PresentationFormat>宽屏</PresentationFormat>
  <Paragraphs>40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等线</vt:lpstr>
      <vt:lpstr>Arial</vt:lpstr>
      <vt:lpstr>Calibri</vt:lpstr>
      <vt:lpstr>Calibri Light</vt:lpstr>
      <vt:lpstr>Times New Roman</vt:lpstr>
      <vt:lpstr>Office 主题</vt:lpstr>
      <vt:lpstr>Fork函数</vt:lpstr>
      <vt:lpstr>Fork函数</vt:lpstr>
      <vt:lpstr>Fork函数</vt:lpstr>
      <vt:lpstr>Fork函数</vt:lpstr>
      <vt:lpstr>Fork函数</vt:lpstr>
      <vt:lpstr>Fork逻辑判断</vt:lpstr>
      <vt:lpstr>Fork顺序打印</vt:lpstr>
      <vt:lpstr>Fork函数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八句话，送给自己</dc:title>
  <dc:creator>未知用户</dc:creator>
  <cp:lastModifiedBy>zhou yanming</cp:lastModifiedBy>
  <cp:revision>355</cp:revision>
  <dcterms:created xsi:type="dcterms:W3CDTF">2020-09-28T23:26:33Z</dcterms:created>
  <dcterms:modified xsi:type="dcterms:W3CDTF">2022-03-15T11:43:55Z</dcterms:modified>
</cp:coreProperties>
</file>